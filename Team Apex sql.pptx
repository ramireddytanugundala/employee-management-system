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70" r:id="rId5"/>
    <p:sldId id="271" r:id="rId6"/>
    <p:sldId id="261" r:id="rId7"/>
    <p:sldId id="266" r:id="rId8"/>
    <p:sldId id="273" r:id="rId9"/>
    <p:sldId id="274" r:id="rId10"/>
    <p:sldId id="277" r:id="rId11"/>
    <p:sldId id="278" r:id="rId12"/>
    <p:sldId id="281" r:id="rId13"/>
    <p:sldId id="279" r:id="rId14"/>
    <p:sldId id="280" r:id="rId15"/>
    <p:sldId id="282" r:id="rId16"/>
    <p:sldId id="275" r:id="rId17"/>
    <p:sldId id="276" r:id="rId18"/>
    <p:sldId id="258" r:id="rId19"/>
    <p:sldId id="283" r:id="rId20"/>
    <p:sldId id="259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>
      <p:cViewPr varScale="1">
        <p:scale>
          <a:sx n="78" d="100"/>
          <a:sy n="78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4232" y="6184984"/>
            <a:ext cx="3225396" cy="62222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6516" y="1850749"/>
            <a:ext cx="4465643" cy="28343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4232" y="6184984"/>
            <a:ext cx="3225396" cy="62222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" y="0"/>
            <a:ext cx="12190814" cy="66940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4232" y="6184984"/>
            <a:ext cx="3225396" cy="6222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7625" y="3000247"/>
            <a:ext cx="2362200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8995" y="1386657"/>
            <a:ext cx="5019675" cy="2306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ami-reddy-tanugundala" TargetMode="External"/><Relationship Id="rId2" Type="http://schemas.openxmlformats.org/officeDocument/2006/relationships/hyperlink" Target="http://www.linkedin.com/in/rakesh-yadav-869a6133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amireddytanugundal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0" y="3657600"/>
            <a:ext cx="547610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 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143000"/>
            <a:ext cx="9601200" cy="415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r>
              <a:rPr lang="en-US" sz="2800" b="1" dirty="0">
                <a:latin typeface="Calibri"/>
                <a:cs typeface="Calibri"/>
              </a:rPr>
              <a:t>TEAM MEMBERS</a:t>
            </a: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endParaRPr lang="en-US" sz="2800" b="1" dirty="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G.Rakesh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Linkedln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">
              <a:spcBef>
                <a:spcPts val="100"/>
              </a:spcBef>
              <a:tabLst>
                <a:tab pos="334645" algn="l"/>
              </a:tabLst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CSE &amp; AI ML</a:t>
            </a:r>
          </a:p>
          <a:p>
            <a:pPr marL="57785">
              <a:spcBef>
                <a:spcPts val="100"/>
              </a:spcBef>
              <a:tabLst>
                <a:tab pos="334645" algn="l"/>
              </a:tabLst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T.Rami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Linkedin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GitHub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">
              <a:lnSpc>
                <a:spcPct val="100000"/>
              </a:lnSpc>
              <a:spcBef>
                <a:spcPts val="100"/>
              </a:spcBef>
              <a:tabLst>
                <a:tab pos="334645" algn="l"/>
              </a:tabLst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CSE-DS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5441950" cy="520079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845"/>
              </a:spcBef>
            </a:pPr>
            <a:r>
              <a:rPr lang="en-US" sz="3200" spc="-85" dirty="0">
                <a:solidFill>
                  <a:srgbClr val="FF0000"/>
                </a:solidFill>
                <a:latin typeface="Palatino Linotype" panose="02040502050505030304" pitchFamily="18" charset="0"/>
                <a:ea typeface="Yu Gothic Medium" panose="020B0500000000000000" pitchFamily="34" charset="-128"/>
                <a:cs typeface="Tahoma"/>
              </a:rPr>
              <a:t>    ABOUT US</a:t>
            </a:r>
            <a:endParaRPr sz="3200" dirty="0">
              <a:solidFill>
                <a:srgbClr val="FF0000"/>
              </a:solidFill>
              <a:latin typeface="Palatino Linotype" panose="02040502050505030304" pitchFamily="18" charset="0"/>
              <a:ea typeface="Yu Gothic Medium" panose="020B0500000000000000" pitchFamily="34" charset="-128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2CDC-A553-ACC2-4BB5-FC9A3A90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A9955E95-F07B-97C3-8F41-DE3088CEFB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04310"/>
            <a:ext cx="9296400" cy="510524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845"/>
              </a:spcBef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Agenda – Employee Management System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0C054-CDEF-F099-44D8-B6B36C69E646}"/>
              </a:ext>
            </a:extLst>
          </p:cNvPr>
          <p:cNvSpPr txBox="1"/>
          <p:nvPr/>
        </p:nvSpPr>
        <p:spPr>
          <a:xfrm>
            <a:off x="1222094" y="1524000"/>
            <a:ext cx="860770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use 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&amp;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53146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B298-E08D-AB0D-6213-8B076EC0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304800"/>
            <a:ext cx="3216275" cy="6858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D685D-5587-6251-0E93-DC54D6981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219200"/>
            <a:ext cx="12039600" cy="4555093"/>
          </a:xfrm>
        </p:spPr>
        <p:txBody>
          <a:bodyPr/>
          <a:lstStyle/>
          <a:p>
            <a:r>
              <a:rPr lang="en-IN" dirty="0"/>
              <a:t>Employee Management System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Management System (EMS) is a relational database application developed using SQL to efficiently manage employee information within an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dirty="0"/>
              <a:t>The database consists of six interconnected tables: </a:t>
            </a:r>
            <a:r>
              <a:rPr lang="en-IN" sz="1600" b="0" dirty="0" err="1"/>
              <a:t>JobDepartment</a:t>
            </a:r>
            <a:r>
              <a:rPr lang="en-IN" sz="1600" b="0" dirty="0"/>
              <a:t>, </a:t>
            </a:r>
            <a:r>
              <a:rPr lang="en-IN" sz="1600" b="0" dirty="0" err="1"/>
              <a:t>SalaryBonus</a:t>
            </a:r>
            <a:r>
              <a:rPr lang="en-IN" sz="1600" b="0" dirty="0"/>
              <a:t>, Employee, Qualification, Leaves, and Payroll. These tables work together to manage employee information, calculate payroll, track leave records, and generate meaningful reports for decision-making.</a:t>
            </a: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The system stores and manages: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Details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Departments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Information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65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770F-8148-605A-B346-7B1A308A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304800"/>
            <a:ext cx="5181600" cy="685800"/>
          </a:xfrm>
        </p:spPr>
        <p:txBody>
          <a:bodyPr/>
          <a:lstStyle/>
          <a:p>
            <a:r>
              <a:rPr lang="en-IN" dirty="0"/>
              <a:t>Domain Knowledge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FCD9F-41D7-1A67-93DD-333F9CD16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371600"/>
            <a:ext cx="10896600" cy="3046988"/>
          </a:xfrm>
        </p:spPr>
        <p:txBody>
          <a:bodyPr/>
          <a:lstStyle/>
          <a:p>
            <a:r>
              <a:rPr lang="en-IN" dirty="0"/>
              <a:t>The EMS consists of six major modules: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Information Management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&amp; Job Role Management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Management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 Tracking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&amp; Bonus Management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modules help HR efficiently manage employees and support informed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25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45DA5-D595-3B88-B18D-CF0ED626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90477C2B-124F-2061-DB10-BBFB589F7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290224"/>
            <a:ext cx="5441950" cy="903452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845"/>
              </a:spcBef>
            </a:pPr>
            <a:r>
              <a:rPr lang="en-US" sz="3200" spc="-85" dirty="0">
                <a:solidFill>
                  <a:srgbClr val="FF0000"/>
                </a:solidFill>
                <a:latin typeface="Palatino Linotype" panose="02040502050505030304" pitchFamily="18" charset="0"/>
                <a:cs typeface="Tahoma"/>
              </a:rPr>
              <a:t>System Design Overview</a:t>
            </a:r>
            <a:br>
              <a:rPr lang="en-US" sz="3200" b="1" spc="-85" dirty="0">
                <a:solidFill>
                  <a:srgbClr val="FF0000"/>
                </a:solidFill>
                <a:latin typeface="Tahoma"/>
                <a:cs typeface="Tahoma"/>
              </a:rPr>
            </a:br>
            <a:endParaRPr sz="3200" dirty="0">
              <a:latin typeface="Tahoma"/>
              <a:cs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B8C3D-F36B-9445-3DA8-764749AE9FB9}"/>
              </a:ext>
            </a:extLst>
          </p:cNvPr>
          <p:cNvSpPr txBox="1"/>
          <p:nvPr/>
        </p:nvSpPr>
        <p:spPr>
          <a:xfrm>
            <a:off x="434203" y="1066455"/>
            <a:ext cx="8640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20" dirty="0">
                <a:latin typeface="Calibri"/>
                <a:cs typeface="Calibri"/>
              </a:rPr>
              <a:t>ER Diagram: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B482F-08DB-AFB4-82A7-0AA70B9A1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292" y="990600"/>
            <a:ext cx="7483488" cy="54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7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F062-C523-FBE0-B84E-342733E5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F557F053-8755-3A5E-BCAE-F11162E5A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290224"/>
            <a:ext cx="10972800" cy="903452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845"/>
              </a:spcBef>
            </a:pPr>
            <a:r>
              <a:rPr lang="en-US" sz="3200" spc="-85" dirty="0">
                <a:solidFill>
                  <a:srgbClr val="FF0000"/>
                </a:solidFill>
                <a:latin typeface="Palatino Linotype" panose="02040502050505030304" pitchFamily="18" charset="0"/>
                <a:cs typeface="Tahoma"/>
              </a:rPr>
              <a:t>key Analysis Use Cases – Employee Management System</a:t>
            </a:r>
            <a:br>
              <a:rPr lang="en-US" sz="3200" b="1" spc="-85" dirty="0">
                <a:solidFill>
                  <a:srgbClr val="FF0000"/>
                </a:solidFill>
                <a:latin typeface="Tahoma"/>
                <a:cs typeface="Tahoma"/>
              </a:rPr>
            </a:br>
            <a:endParaRPr sz="3200" dirty="0">
              <a:latin typeface="Tahoma"/>
              <a:cs typeface="Tah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8A82DB-470B-2CC4-652C-D24F9C588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193676"/>
            <a:ext cx="7119395" cy="474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7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C059-2EBC-B2BB-1DAB-D9C5056A9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208280"/>
            <a:ext cx="5181600" cy="762000"/>
          </a:xfrm>
        </p:spPr>
        <p:txBody>
          <a:bodyPr/>
          <a:lstStyle/>
          <a:p>
            <a:r>
              <a:rPr lang="en-IN" dirty="0"/>
              <a:t>Sample SQL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26D5C-7863-E1EB-D5DF-7B004BFA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181" y="972738"/>
            <a:ext cx="10815638" cy="295465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1.How many unique employees are currently in the system?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2.which departments have the highest number of employees?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BED0A-1792-A8B6-D437-E443EB7DD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29" y="1447801"/>
            <a:ext cx="3406435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4DFFF0-6E10-7252-5E4D-5829269A6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15734"/>
            <a:ext cx="2133600" cy="464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92ECA3-7041-C17E-6774-8DC56D596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537511"/>
            <a:ext cx="2644369" cy="17298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BE8CFF-5D3F-F43B-2121-0ED11072B1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465" y="3530261"/>
            <a:ext cx="2171888" cy="17298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110290-94A5-5688-8B02-87BFB3A226BC}"/>
              </a:ext>
            </a:extLst>
          </p:cNvPr>
          <p:cNvSpPr txBox="1"/>
          <p:nvPr/>
        </p:nvSpPr>
        <p:spPr>
          <a:xfrm>
            <a:off x="495300" y="2222235"/>
            <a:ext cx="1135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</a:rPr>
              <a:t>COUNT(DISTINCT </a:t>
            </a:r>
            <a:r>
              <a:rPr lang="en-IN" sz="1400" dirty="0" err="1">
                <a:latin typeface="Courier New" panose="02070309020205020404" pitchFamily="49" charset="0"/>
              </a:rPr>
              <a:t>emp_ID</a:t>
            </a:r>
            <a:r>
              <a:rPr lang="en-IN" sz="1400" dirty="0">
                <a:latin typeface="Courier New" panose="02070309020205020404" pitchFamily="49" charset="0"/>
              </a:rPr>
              <a:t>)</a:t>
            </a:r>
            <a:r>
              <a:rPr lang="en-IN" sz="1400" dirty="0"/>
              <a:t> counts all unique employee IDs. </a:t>
            </a:r>
            <a:r>
              <a:rPr lang="en-IN" sz="1400" dirty="0">
                <a:latin typeface="Courier New" panose="02070309020205020404" pitchFamily="49" charset="0"/>
              </a:rPr>
              <a:t>DISTINCT</a:t>
            </a:r>
            <a:r>
              <a:rPr lang="en-IN" sz="1400" dirty="0"/>
              <a:t> ensures duplicate IDs are not counted. </a:t>
            </a:r>
            <a:r>
              <a:rPr lang="en-IN" sz="1400" dirty="0">
                <a:latin typeface="Courier New" panose="02070309020205020404" pitchFamily="49" charset="0"/>
              </a:rPr>
              <a:t>FROM Employee</a:t>
            </a:r>
            <a:r>
              <a:rPr lang="en-IN" sz="1400" dirty="0"/>
              <a:t> retrieves data from the Employee table.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F1EE2-7F80-38DC-4DA6-411E70704B40}"/>
              </a:ext>
            </a:extLst>
          </p:cNvPr>
          <p:cNvSpPr txBox="1"/>
          <p:nvPr/>
        </p:nvSpPr>
        <p:spPr>
          <a:xfrm>
            <a:off x="414184" y="5781712"/>
            <a:ext cx="1120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</a:rPr>
              <a:t>JOIN</a:t>
            </a:r>
            <a:r>
              <a:rPr lang="en-IN" sz="1400" dirty="0"/>
              <a:t> connects Employee and </a:t>
            </a:r>
            <a:r>
              <a:rPr lang="en-IN" sz="1400" dirty="0" err="1"/>
              <a:t>JobDepartment</a:t>
            </a:r>
            <a:r>
              <a:rPr lang="en-IN" sz="1400" dirty="0"/>
              <a:t> using </a:t>
            </a:r>
            <a:r>
              <a:rPr lang="en-IN" sz="1400" dirty="0" err="1"/>
              <a:t>Job_ID</a:t>
            </a:r>
            <a:r>
              <a:rPr lang="en-IN" sz="1400" dirty="0"/>
              <a:t>. </a:t>
            </a:r>
            <a:r>
              <a:rPr lang="en-IN" sz="1400" dirty="0">
                <a:latin typeface="Courier New" panose="02070309020205020404" pitchFamily="49" charset="0"/>
              </a:rPr>
              <a:t>COUNT()</a:t>
            </a:r>
            <a:r>
              <a:rPr lang="en-IN" sz="1400" dirty="0"/>
              <a:t> counts employees in each department. </a:t>
            </a:r>
            <a:r>
              <a:rPr lang="en-IN" sz="1400" dirty="0">
                <a:latin typeface="Courier New" panose="02070309020205020404" pitchFamily="49" charset="0"/>
              </a:rPr>
              <a:t>GROUP BY</a:t>
            </a:r>
            <a:r>
              <a:rPr lang="en-IN" sz="1400" dirty="0"/>
              <a:t> groups employees department-wise. </a:t>
            </a:r>
            <a:r>
              <a:rPr lang="en-IN" sz="1400" dirty="0">
                <a:latin typeface="Courier New" panose="02070309020205020404" pitchFamily="49" charset="0"/>
              </a:rPr>
              <a:t>ORDER BY DESC</a:t>
            </a:r>
            <a:r>
              <a:rPr lang="en-IN" sz="1400" dirty="0"/>
              <a:t> displays departments from highest to lowest employee count.</a:t>
            </a:r>
          </a:p>
        </p:txBody>
      </p:sp>
    </p:spTree>
    <p:extLst>
      <p:ext uri="{BB962C8B-B14F-4D97-AF65-F5344CB8AC3E}">
        <p14:creationId xmlns:p14="http://schemas.microsoft.com/office/powerpoint/2010/main" val="3784646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91675-731E-1282-20B3-99237373C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45" y="243640"/>
            <a:ext cx="11658600" cy="56938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0" dirty="0"/>
              <a:t> What is the average salary per department?</a:t>
            </a:r>
          </a:p>
          <a:p>
            <a:endParaRPr lang="en-IN" b="0" dirty="0"/>
          </a:p>
          <a:p>
            <a:endParaRPr lang="en-IN" b="0" dirty="0"/>
          </a:p>
          <a:p>
            <a:endParaRPr lang="en-IN" b="0" dirty="0"/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Employee, </a:t>
            </a:r>
            <a:r>
              <a:rPr lang="en-I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JobDepartment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SalaryBonus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tables. AVG(amount) calculates the average salary. GROUP BY calculates department-wise averages.</a:t>
            </a:r>
          </a:p>
          <a:p>
            <a:r>
              <a:rPr lang="en-IN" b="0" dirty="0"/>
              <a:t>4.Who are the top 5 highest-paid employees?</a:t>
            </a:r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first and last names using CONCAT(). Retrieves salary information. ORDER BY DESC sorts salaries from highest to lowest. LIMIT 5 displays only the top five employees.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09752-05BC-6DB0-D94F-F70E55D73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67342"/>
            <a:ext cx="3490262" cy="1920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563697-BF47-C5BC-7A2C-6F5FE86A1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645" y="914400"/>
            <a:ext cx="1981372" cy="1653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35E20-58D0-D052-8812-C272CF81F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4" y="3579737"/>
            <a:ext cx="3947502" cy="1818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F96712-E5D5-0B01-D5D4-F792E1A001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3962400"/>
            <a:ext cx="2491956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8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23D043-319C-40DC-6802-D0C71C4FB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76200"/>
            <a:ext cx="11811000" cy="3046988"/>
          </a:xfrm>
        </p:spPr>
        <p:txBody>
          <a:bodyPr/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5.What is the total salary expenditure across the company?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SUM() adds all employee salaries. Joins Employee and </a:t>
            </a:r>
            <a:r>
              <a:rPr lang="en-I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SalaryBonus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6.How many different job roles exist in each department?</a:t>
            </a:r>
          </a:p>
          <a:p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DA3C90-EB34-6FE8-637C-2B1A0E9BD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09600"/>
            <a:ext cx="1889924" cy="1150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782DD3-82D1-455A-BD7B-BB0A9D5A1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900" y="1066800"/>
            <a:ext cx="1066892" cy="571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735A4D-31C6-844B-E45D-20125C3A4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" y="2559060"/>
            <a:ext cx="2834886" cy="11430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ED422D-232D-95CD-0B41-B9A42FB0A8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761" y="2188150"/>
            <a:ext cx="2095682" cy="17146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2C2BC4-AA67-D3E1-857D-DBBA6A827C60}"/>
              </a:ext>
            </a:extLst>
          </p:cNvPr>
          <p:cNvSpPr txBox="1"/>
          <p:nvPr/>
        </p:nvSpPr>
        <p:spPr>
          <a:xfrm>
            <a:off x="152400" y="40757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7.What is the average salary range per department?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7A1F9B8-83E4-30F2-203D-1DE6771F1D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" y="4419600"/>
            <a:ext cx="2575783" cy="14707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20EA65-80CE-3D18-9C82-23C334CCDB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952" y="4550787"/>
            <a:ext cx="1966130" cy="1691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6BD64F-073F-47EA-75DB-C2562B2D7372}"/>
              </a:ext>
            </a:extLst>
          </p:cNvPr>
          <p:cNvSpPr txBox="1"/>
          <p:nvPr/>
        </p:nvSpPr>
        <p:spPr>
          <a:xfrm>
            <a:off x="112177" y="3586339"/>
            <a:ext cx="8272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Counts unique job roles in each department. Groups the data by department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A3CC1-B3FE-8FA4-12C0-4C5E4EF3280A}"/>
              </a:ext>
            </a:extLst>
          </p:cNvPr>
          <p:cNvSpPr txBox="1"/>
          <p:nvPr/>
        </p:nvSpPr>
        <p:spPr>
          <a:xfrm>
            <a:off x="304800" y="6300837"/>
            <a:ext cx="9673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Calculates average salary for each department. Uses the </a:t>
            </a:r>
            <a:r>
              <a:rPr lang="en-IN" sz="1400" dirty="0" err="1"/>
              <a:t>SalaryBonus</a:t>
            </a:r>
            <a:r>
              <a:rPr lang="en-IN" sz="1400" dirty="0"/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1336985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F8149F-33EF-59CB-ACC6-51A541F1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04800"/>
            <a:ext cx="11430000" cy="276999"/>
          </a:xfrm>
        </p:spPr>
        <p:txBody>
          <a:bodyPr/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8.Which job roles offer the highest salary?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D08C1-604F-88B6-D379-E6845DBE4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62000"/>
            <a:ext cx="2248095" cy="1539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AE1F34-6E1E-32E1-8FDD-784C7868C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242" y="348112"/>
            <a:ext cx="2743438" cy="18746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E647BC-45A5-A634-3D3A-953F172EFFD8}"/>
              </a:ext>
            </a:extLst>
          </p:cNvPr>
          <p:cNvSpPr txBox="1"/>
          <p:nvPr/>
        </p:nvSpPr>
        <p:spPr>
          <a:xfrm>
            <a:off x="304800" y="2548814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9.Which departments have the highest total salary allocation?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E47364-AABE-BC64-F7A3-A8473EEF4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831331"/>
            <a:ext cx="2171888" cy="15588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B69150-9EE2-518B-D264-8BE542B67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588" y="2722584"/>
            <a:ext cx="1874682" cy="14417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8D55650-03E2-9DD4-F723-9034E613DFA5}"/>
              </a:ext>
            </a:extLst>
          </p:cNvPr>
          <p:cNvSpPr txBox="1"/>
          <p:nvPr/>
        </p:nvSpPr>
        <p:spPr>
          <a:xfrm>
            <a:off x="287594" y="4629351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10.How many employees have at least one qualification listed?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A33EAF-254D-63AD-EC6C-CED7160D3B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68" y="5136566"/>
            <a:ext cx="3071126" cy="7773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30F8A4-BC23-F860-ED01-D016FA0349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033" y="5136566"/>
            <a:ext cx="1463167" cy="7392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B76C7B-8202-2628-F4C8-9C3C2425B41D}"/>
              </a:ext>
            </a:extLst>
          </p:cNvPr>
          <p:cNvSpPr txBox="1"/>
          <p:nvPr/>
        </p:nvSpPr>
        <p:spPr>
          <a:xfrm>
            <a:off x="322006" y="2178498"/>
            <a:ext cx="830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Retrieves each job role and its salary. Sorts salaries in descending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5ABCC-EA7B-6FA3-8264-E17C3B3E7989}"/>
              </a:ext>
            </a:extLst>
          </p:cNvPr>
          <p:cNvSpPr txBox="1"/>
          <p:nvPr/>
        </p:nvSpPr>
        <p:spPr>
          <a:xfrm>
            <a:off x="287594" y="4260019"/>
            <a:ext cx="929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Calculates the total salary allocated to each department. Uses </a:t>
            </a:r>
            <a:r>
              <a:rPr lang="en-IN" sz="1400" dirty="0">
                <a:latin typeface="Courier New" panose="02070309020205020404" pitchFamily="49" charset="0"/>
              </a:rPr>
              <a:t>SUM()</a:t>
            </a:r>
            <a:r>
              <a:rPr lang="en-IN" sz="1400" dirty="0"/>
              <a:t> with </a:t>
            </a:r>
            <a:r>
              <a:rPr lang="en-IN" sz="1400" dirty="0">
                <a:latin typeface="Courier New" panose="02070309020205020404" pitchFamily="49" charset="0"/>
              </a:rPr>
              <a:t>GROUP BY</a:t>
            </a:r>
            <a:r>
              <a:rPr lang="en-IN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BBEA7F-F602-22DB-3F19-55445E803E29}"/>
              </a:ext>
            </a:extLst>
          </p:cNvPr>
          <p:cNvSpPr txBox="1"/>
          <p:nvPr/>
        </p:nvSpPr>
        <p:spPr>
          <a:xfrm>
            <a:off x="349045" y="59712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Counts employees who have at least one qualification</a:t>
            </a:r>
          </a:p>
        </p:txBody>
      </p:sp>
    </p:spTree>
    <p:extLst>
      <p:ext uri="{BB962C8B-B14F-4D97-AF65-F5344CB8AC3E}">
        <p14:creationId xmlns:p14="http://schemas.microsoft.com/office/powerpoint/2010/main" val="3948795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38E84-CDA0-7DE9-E891-3A68A7F69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52400"/>
            <a:ext cx="11887200" cy="276999"/>
          </a:xfrm>
        </p:spPr>
        <p:txBody>
          <a:bodyPr/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11.Which positions require the most qualifications?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07587-D378-FADE-A1BF-D4EF25325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9600"/>
            <a:ext cx="2842506" cy="1569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EE786-88C2-FD40-6D9D-BF3D9D2FA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60067"/>
            <a:ext cx="2415749" cy="19127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43BFEB-6B28-C5E1-12C1-AF38C5F7AA00}"/>
              </a:ext>
            </a:extLst>
          </p:cNvPr>
          <p:cNvSpPr txBox="1"/>
          <p:nvPr/>
        </p:nvSpPr>
        <p:spPr>
          <a:xfrm>
            <a:off x="122375" y="2434518"/>
            <a:ext cx="838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12.Which employees have the highest number of qualifications?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F27AF2-16BF-AD63-99D3-26CE4BDA0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722539"/>
            <a:ext cx="3825572" cy="13911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F37309-DBB1-18B5-330C-CA0D6C37F9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070" y="2434518"/>
            <a:ext cx="2880610" cy="15715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D9D10F-7550-FFBE-E9CE-3DBD060F3702}"/>
              </a:ext>
            </a:extLst>
          </p:cNvPr>
          <p:cNvSpPr txBox="1"/>
          <p:nvPr/>
        </p:nvSpPr>
        <p:spPr>
          <a:xfrm>
            <a:off x="73742" y="4495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13.Which year had the most employees taking leaves?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195348-1D3F-4ABF-23EE-E78A424FDF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3" y="4941332"/>
            <a:ext cx="2560542" cy="1341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42E5A7-24F6-B068-9385-4EFB0B5A99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5486400"/>
            <a:ext cx="1760373" cy="586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342E5B-CF7C-D261-2C5A-188F8CDAC5B0}"/>
              </a:ext>
            </a:extLst>
          </p:cNvPr>
          <p:cNvSpPr txBox="1"/>
          <p:nvPr/>
        </p:nvSpPr>
        <p:spPr>
          <a:xfrm>
            <a:off x="122375" y="1994790"/>
            <a:ext cx="10404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This query identifies job positions that require higher educational qualifications or certifications.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93BE1-CE40-CC1C-90C3-B05C7210EF50}"/>
              </a:ext>
            </a:extLst>
          </p:cNvPr>
          <p:cNvSpPr txBox="1"/>
          <p:nvPr/>
        </p:nvSpPr>
        <p:spPr>
          <a:xfrm>
            <a:off x="28022" y="4106345"/>
            <a:ext cx="1138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This query identifies employees with the most qualifications. It helps recognize highly skilled employees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01689-3C3E-B807-84FB-E2CB5F22AC52}"/>
              </a:ext>
            </a:extLst>
          </p:cNvPr>
          <p:cNvSpPr txBox="1"/>
          <p:nvPr/>
        </p:nvSpPr>
        <p:spPr>
          <a:xfrm>
            <a:off x="73742" y="622402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This query groups leave records by year.</a:t>
            </a:r>
          </a:p>
        </p:txBody>
      </p:sp>
    </p:spTree>
    <p:extLst>
      <p:ext uri="{BB962C8B-B14F-4D97-AF65-F5344CB8AC3E}">
        <p14:creationId xmlns:p14="http://schemas.microsoft.com/office/powerpoint/2010/main" val="3861036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17183-A8EB-8A57-574D-A17612E54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228600"/>
            <a:ext cx="11811000" cy="276999"/>
          </a:xfrm>
        </p:spPr>
        <p:txBody>
          <a:bodyPr/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14.What is the average number of leave days taken by its employees per department?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5036D-ECB3-0C36-7265-440885AB6261}"/>
              </a:ext>
            </a:extLst>
          </p:cNvPr>
          <p:cNvSpPr txBox="1"/>
          <p:nvPr/>
        </p:nvSpPr>
        <p:spPr>
          <a:xfrm>
            <a:off x="152400" y="2514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15.Which employees have taken the most leaves?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06EB8-F2C1-B942-05FF-21D48EEAD468}"/>
              </a:ext>
            </a:extLst>
          </p:cNvPr>
          <p:cNvSpPr txBox="1"/>
          <p:nvPr/>
        </p:nvSpPr>
        <p:spPr>
          <a:xfrm>
            <a:off x="152400" y="5037912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16.What is the total number of leave days taken company-wide?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C8F3EE-F9F5-51D2-76F5-15E9D9E23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10765"/>
            <a:ext cx="4694327" cy="1735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48473E-289D-BC49-FA32-20C716FED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23644"/>
            <a:ext cx="2872989" cy="1622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6A2C1D-7F6B-63BE-FF8E-02D011B51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43" y="2883932"/>
            <a:ext cx="3741744" cy="1806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312D26-582F-9268-A299-7D3DDFE7EE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02" y="2731009"/>
            <a:ext cx="2575783" cy="20042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341A10-BD8D-642A-61D3-8B75012839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657435"/>
            <a:ext cx="2263336" cy="7087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42AFFB-AEEE-700F-D1EF-1C3D55A9E7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671553"/>
            <a:ext cx="1501270" cy="762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569783-B06E-656A-B291-2926872FB4DC}"/>
              </a:ext>
            </a:extLst>
          </p:cNvPr>
          <p:cNvSpPr txBox="1"/>
          <p:nvPr/>
        </p:nvSpPr>
        <p:spPr>
          <a:xfrm>
            <a:off x="153629" y="2240562"/>
            <a:ext cx="11201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"This helps compare leave patterns between departments and identify departments with higher absenteeism."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5734C-BF56-55C8-F0D1-610629A56B00}"/>
              </a:ext>
            </a:extLst>
          </p:cNvPr>
          <p:cNvSpPr txBox="1"/>
          <p:nvPr/>
        </p:nvSpPr>
        <p:spPr>
          <a:xfrm>
            <a:off x="129789" y="4668580"/>
            <a:ext cx="922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/>
              <a:t>This query identifies employees with the highest leave count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0B4BE1-B627-00A8-F208-8E96BC462B0C}"/>
              </a:ext>
            </a:extLst>
          </p:cNvPr>
          <p:cNvSpPr txBox="1"/>
          <p:nvPr/>
        </p:nvSpPr>
        <p:spPr>
          <a:xfrm>
            <a:off x="152400" y="6196725"/>
            <a:ext cx="115074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"This provides the total leave days taken across the organization and helps HR evaluate overall employee attendance."</a:t>
            </a:r>
          </a:p>
        </p:txBody>
      </p:sp>
    </p:spTree>
    <p:extLst>
      <p:ext uri="{BB962C8B-B14F-4D97-AF65-F5344CB8AC3E}">
        <p14:creationId xmlns:p14="http://schemas.microsoft.com/office/powerpoint/2010/main" val="4031212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9BB2D-3B21-F613-E203-81905D39E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52400"/>
            <a:ext cx="11582400" cy="276999"/>
          </a:xfrm>
        </p:spPr>
        <p:txBody>
          <a:bodyPr/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17.How do leave days correlate with payroll amounts?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939B0-C5A7-8EFB-1F65-728B57019533}"/>
              </a:ext>
            </a:extLst>
          </p:cNvPr>
          <p:cNvSpPr txBox="1"/>
          <p:nvPr/>
        </p:nvSpPr>
        <p:spPr>
          <a:xfrm>
            <a:off x="41786" y="27874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18.What is the total monthly payroll processed?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6BC54-F3AD-73DB-62FF-1FF85317D1FD}"/>
              </a:ext>
            </a:extLst>
          </p:cNvPr>
          <p:cNvSpPr txBox="1"/>
          <p:nvPr/>
        </p:nvSpPr>
        <p:spPr>
          <a:xfrm>
            <a:off x="0" y="4800600"/>
            <a:ext cx="612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19.What is the average bonus given per department?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C23D76-79E9-4FB1-0183-322A64C4B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33" y="5169932"/>
            <a:ext cx="2728196" cy="1577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504B1A-5423-A51B-1462-AB65CA800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4985266"/>
            <a:ext cx="2331922" cy="16841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F76744-1C9F-E968-2102-278B8CC00E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33" y="3146917"/>
            <a:ext cx="2712955" cy="1653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D58166-18D6-6874-A7B6-0EAC3AC94A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628124"/>
            <a:ext cx="2286198" cy="7849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45C76D-3EA4-3C74-6F54-6291D6FBEB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33" y="530806"/>
            <a:ext cx="4191363" cy="22985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E0784D-1A07-4B59-1CA1-B16101B158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56421"/>
            <a:ext cx="3825572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6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153A5-3FD8-FB82-460E-FBD048DC6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457200"/>
            <a:ext cx="11506200" cy="276999"/>
          </a:xfrm>
        </p:spPr>
        <p:txBody>
          <a:bodyPr/>
          <a:lstStyle/>
          <a:p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20.Which department receives the highest total bonuses?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5D3B3-A12B-A521-A6DF-75C70EA0E5F9}"/>
              </a:ext>
            </a:extLst>
          </p:cNvPr>
          <p:cNvSpPr txBox="1"/>
          <p:nvPr/>
        </p:nvSpPr>
        <p:spPr>
          <a:xfrm>
            <a:off x="0" y="3581400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21.What is the average value of </a:t>
            </a:r>
            <a:r>
              <a:rPr lang="en-IN" dirty="0" err="1"/>
              <a:t>total_amount</a:t>
            </a:r>
            <a:r>
              <a:rPr lang="en-IN" dirty="0"/>
              <a:t> after considering leave deductions?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B3359-99E1-B6C3-0E6D-F464B8E44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267200"/>
            <a:ext cx="3520745" cy="899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95062B-D970-471E-487D-08E436B36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347217"/>
            <a:ext cx="1463167" cy="739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E117B-5242-E77D-155B-365F1CFF5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54202"/>
            <a:ext cx="2339543" cy="22328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0B2FB0-C43E-EE33-960F-F7B4C06C92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224" y="1292854"/>
            <a:ext cx="1752752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7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3DDB-B012-928C-0891-8384D9C4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4968"/>
            <a:ext cx="7467600" cy="820338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Experiences &amp; Challenges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A1956-BD33-54CE-38CF-5FC9A61EA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11430000" cy="3323987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Challenges Faced:</a:t>
            </a:r>
          </a:p>
          <a:p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Challenges Faced that you can include in your Employee Management System (EMS) SQL project report or presentation:</a:t>
            </a:r>
          </a:p>
          <a:p>
            <a:endParaRPr lang="en-IN" altLang="en-US" sz="18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database schema and establishing correct relationships between tables.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primary keys and foreign keys to maintain data integrity.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duplicate records by using unique constraints on important fields such as employee email.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complex SQL queries involving multiple table joins (Employee, Payroll, Leaves, Qualification, and </a:t>
            </a:r>
            <a:r>
              <a:rPr lang="en-I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JobDepartment</a:t>
            </a: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aggregate values such as total salary, average salary, bonuses, and employee counts accurately.</a:t>
            </a:r>
            <a:endParaRPr lang="en-IN" altLang="en-US" sz="20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359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929D61-D963-78BF-0BE9-1C15124F5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381000"/>
            <a:ext cx="11811000" cy="424731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Learning Experience: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Employee Management System (EMS) SQL project, I gained practical experience in designing and managing a relational database. The project helped me understand how different tables are connected using primary and foreign keys, ensuring data integrity and consistency.</a:t>
            </a:r>
          </a:p>
          <a:p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to write SQL queries for data retrieval, filtering, sorting, grouping, and aggregation. I also gained hands-on experience using JOINs, GROUP BY, ORDER BY, COUNT, SUM, AVG, DISTINCT, and other SQL functions to generate meaningful business insights.</a:t>
            </a:r>
          </a:p>
          <a:p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this project improved my ability to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employee, department, payroll, leave, and qualification data. It also enhanced my problem-solving skills by debugging SQL errors, optimizing queries, and validating query results.</a:t>
            </a:r>
            <a:endParaRPr lang="en-US" sz="18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172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497" y="290587"/>
            <a:ext cx="86309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Conclusion</a:t>
            </a:r>
            <a:endParaRPr b="1" spc="-1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11201400" cy="2430152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298700" lvl="5">
              <a:spcBef>
                <a:spcPts val="810"/>
              </a:spcBef>
              <a:tabLst>
                <a:tab pos="398145" algn="l"/>
              </a:tabLst>
            </a:pPr>
            <a:endParaRPr spc="-10" dirty="0"/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 pitchFamily="34" charset="0"/>
              <a:buChar char="•"/>
              <a:tabLst>
                <a:tab pos="398145" algn="l"/>
              </a:tabLst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Employee Management System using SQL. 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 pitchFamily="34" charset="0"/>
              <a:buChar char="•"/>
              <a:tabLst>
                <a:tab pos="398145" algn="l"/>
              </a:tabLst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employee data with a structured relational database. 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 pitchFamily="34" charset="0"/>
              <a:buChar char="•"/>
              <a:tabLst>
                <a:tab pos="398145" algn="l"/>
              </a:tabLst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meaningful insights through SQL queries. 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 pitchFamily="34" charset="0"/>
              <a:buChar char="•"/>
              <a:tabLst>
                <a:tab pos="398145" algn="l"/>
              </a:tabLst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practical knowledge of database management</a:t>
            </a:r>
            <a:endParaRPr sz="2000" b="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398145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A1C5-E17A-16F6-AD6F-DBB3CF04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33600"/>
            <a:ext cx="5943600" cy="1354217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               Q &amp;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142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320" dirty="0"/>
              <a:t>THANK </a:t>
            </a:r>
            <a:r>
              <a:rPr spc="330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</TotalTime>
  <Words>1008</Words>
  <Application>Microsoft Office PowerPoint</Application>
  <PresentationFormat>Widescreen</PresentationFormat>
  <Paragraphs>141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Courier New</vt:lpstr>
      <vt:lpstr>Palatino Linotype</vt:lpstr>
      <vt:lpstr>Tahoma</vt:lpstr>
      <vt:lpstr>Times New Roman</vt:lpstr>
      <vt:lpstr>Wingdings</vt:lpstr>
      <vt:lpstr>Office Theme</vt:lpstr>
      <vt:lpstr>PowerPoint Presentation</vt:lpstr>
      <vt:lpstr>    ABOUT US</vt:lpstr>
      <vt:lpstr>Project Agenda – Employee Management System</vt:lpstr>
      <vt:lpstr>Introduction</vt:lpstr>
      <vt:lpstr>Domain Knowledge</vt:lpstr>
      <vt:lpstr>System Design Overview </vt:lpstr>
      <vt:lpstr>key Analysis Use Cases – Employee Management System </vt:lpstr>
      <vt:lpstr>Sample SQL Queries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Experiences &amp; Challenges</vt:lpstr>
      <vt:lpstr>PowerPoint Presentation</vt:lpstr>
      <vt:lpstr> Conclusion</vt:lpstr>
      <vt:lpstr>                 Q &amp; 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Innomatics_Project_Report_Template with SQL_Project_Student_Template.pptx</dc:title>
  <dc:creator>HP</dc:creator>
  <cp:lastModifiedBy>lakshmareddy thanigundala</cp:lastModifiedBy>
  <cp:revision>7</cp:revision>
  <dcterms:created xsi:type="dcterms:W3CDTF">2026-07-10T09:58:47Z</dcterms:created>
  <dcterms:modified xsi:type="dcterms:W3CDTF">2026-07-14T06:41:20Z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2026-07-10T00:00:00Z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2026-07-10T00:00:00Z</vt:filetime>
  </property>
</Properties>
</file>